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528" y="304800"/>
            <a:ext cx="2255520" cy="1292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370320"/>
            <a:ext cx="914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37360"/>
            <a:ext cx="10972800" cy="4876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Calibri"/>
              </a:rPr>
              <a:t>Mood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860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Calibri"/>
              </a:rPr>
              <a:t>Deep Sentiment-Conditioned Neural Contextual Bandits</a:t>
            </a:r>
          </a:p>
          <a:p>
            <a:pPr algn="ctr"/>
            <a:r>
              <a:rPr sz="3400" b="1">
                <a:solidFill>
                  <a:srgbClr val="000000"/>
                </a:solidFill>
                <a:latin typeface="Calibri"/>
              </a:rPr>
              <a:t>for Real-Time Interactive Desktop Companions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13760"/>
            <a:ext cx="10972800" cy="4267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Calibri"/>
              </a:rPr>
              <a:t>Foundations of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962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Calibri"/>
              </a:rPr>
              <a:t>Academic Year 2026–27  |  31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4632960"/>
            <a:ext cx="3962400" cy="15544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000" b="1">
                <a:solidFill>
                  <a:srgbClr val="000000"/>
                </a:solidFill>
                <a:latin typeface="Calibri"/>
              </a:rPr>
              <a:t>Team Members</a:t>
            </a:r>
          </a:p>
          <a:p>
            <a:pPr algn="r"/>
            <a:r>
              <a:rPr sz="2000" b="0">
                <a:solidFill>
                  <a:srgbClr val="000000"/>
                </a:solidFill>
                <a:latin typeface="Calibri"/>
              </a:rPr>
              <a:t>Reuben Sabu V (MUT23CA060)</a:t>
            </a:r>
          </a:p>
          <a:p>
            <a:pPr algn="r"/>
            <a:r>
              <a:rPr sz="2000" b="0">
                <a:solidFill>
                  <a:srgbClr val="000000"/>
                </a:solidFill>
                <a:latin typeface="Calibri"/>
              </a:rPr>
              <a:t>Sidharth Ravi (MUT23CA063)</a:t>
            </a:r>
          </a:p>
          <a:p>
            <a:pPr algn="r"/>
            <a:r>
              <a:rPr sz="2000" b="0">
                <a:solidFill>
                  <a:srgbClr val="000000"/>
                </a:solidFill>
                <a:latin typeface="Calibri"/>
              </a:rPr>
              <a:t>Jino Jenz (MUT23CA035)</a:t>
            </a:r>
          </a:p>
          <a:p>
            <a:pPr algn="r"/>
            <a:r>
              <a:rPr sz="2000" b="0">
                <a:solidFill>
                  <a:srgbClr val="000000"/>
                </a:solidFill>
                <a:latin typeface="Calibri"/>
              </a:rPr>
              <a:t>Nikhil Jimmy (MUT23CA055)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352" y="195072"/>
            <a:ext cx="1328928" cy="7559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6370320"/>
            <a:ext cx="5486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Mood Companion, Dept of AI and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70320"/>
            <a:ext cx="914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09600"/>
            <a:ext cx="9448800" cy="670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371600"/>
            <a:ext cx="11216640" cy="3048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262626"/>
                </a:solidFill>
                <a:latin typeface="Calibri"/>
              </a:rPr>
              <a:t>Desktop companions and chat assistants reply to every user the same way, whatever their mood. Fixed, hand-written rules cannot tell whether a stressed user wants a joke, a break or a breathing exercise, and they never improve from feedback. This project builds a lightweight, real-time companion that reads the user's emotion from text with a deep neural network and uses a neural contextual bandit to choose the response style most likely to help, learning from each thumbs-up / thumbs-down so that it personalises itself to the user while it 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352" y="195072"/>
            <a:ext cx="1328928" cy="7559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6370320"/>
            <a:ext cx="5486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Mood Companion, Dept of AI and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70320"/>
            <a:ext cx="914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09600"/>
            <a:ext cx="9448800" cy="670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Calibri"/>
              </a:rPr>
              <a:t>Objectives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524000"/>
            <a:ext cx="633984" cy="63398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36192"/>
            <a:ext cx="8534400" cy="60960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Detect emotion:</a:t>
            </a:r>
            <a:r>
              <a:rPr sz="2200" b="0">
                <a:solidFill>
                  <a:srgbClr val="595959"/>
                </a:solidFill>
                <a:latin typeface="Calibri"/>
              </a:rPr>
              <a:t> Train a deep MLP on TF-IDF features to classify text into 6 emotions.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01824"/>
            <a:ext cx="633984" cy="63398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14016"/>
            <a:ext cx="8534400" cy="60960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Build context:</a:t>
            </a:r>
            <a:r>
              <a:rPr sz="2200" b="0">
                <a:solidFill>
                  <a:srgbClr val="595959"/>
                </a:solidFill>
                <a:latin typeface="Calibri"/>
              </a:rPr>
              <a:t> Combine emotion probabilities, time of day, session length and last reward into a 10-d context.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79648"/>
            <a:ext cx="633984" cy="63398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91840"/>
            <a:ext cx="8534400" cy="60960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Decide:</a:t>
            </a:r>
            <a:r>
              <a:rPr sz="2200" b="0">
                <a:solidFill>
                  <a:srgbClr val="595959"/>
                </a:solidFill>
                <a:latin typeface="Calibri"/>
              </a:rPr>
              <a:t> Use a neural contextual bandit (MLP + ε-greedy) to pick 1 of 8 companion actions.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57472"/>
            <a:ext cx="633984" cy="63398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169664"/>
            <a:ext cx="8534400" cy="60960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Learn online:</a:t>
            </a:r>
            <a:r>
              <a:rPr sz="2200" b="0">
                <a:solidFill>
                  <a:srgbClr val="595959"/>
                </a:solidFill>
                <a:latin typeface="Calibri"/>
              </a:rPr>
              <a:t> Update the bandit in real time from user thumbs-up / thumbs-down rewards.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035296"/>
            <a:ext cx="633984" cy="63398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047488"/>
            <a:ext cx="8534400" cy="60960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Evaluate &amp; demo:</a:t>
            </a:r>
            <a:r>
              <a:rPr sz="2200" b="0">
                <a:solidFill>
                  <a:srgbClr val="595959"/>
                </a:solidFill>
                <a:latin typeface="Calibri"/>
              </a:rPr>
              <a:t> Compare against random, fixed and oracle policies; deliver an interactive Streamlit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352" y="195072"/>
            <a:ext cx="1328928" cy="7559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6370320"/>
            <a:ext cx="5486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Mood Companion, Dept of AI and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70320"/>
            <a:ext cx="914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09600"/>
            <a:ext cx="9448800" cy="670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Calibri"/>
              </a:rPr>
              <a:t>Project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24000"/>
            <a:ext cx="249936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1706880"/>
            <a:ext cx="22555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Calibr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" y="2133600"/>
            <a:ext cx="2255520" cy="1432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Calibri"/>
              </a:rPr>
              <a:t>Assistants give one-size-fits-all replies and cannot adapt to a user's mood.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2800" y="1524000"/>
            <a:ext cx="249936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06880"/>
            <a:ext cx="22555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Calibri"/>
              </a:rPr>
              <a:t>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33600"/>
            <a:ext cx="2255520" cy="1432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Calibri"/>
              </a:rPr>
              <a:t>The wrong reply at a stressful moment annoys users; the right one supports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74080" y="1524000"/>
            <a:ext cx="249936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0" y="1706880"/>
            <a:ext cx="22555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Calibri"/>
              </a:rPr>
              <a:t>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2133600"/>
            <a:ext cx="2255520" cy="1432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Calibri"/>
              </a:rPr>
              <a:t>A model that senses emotion and learns which response works, from live feedback.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79520"/>
            <a:ext cx="249936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440" y="3962400"/>
            <a:ext cx="22555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Calibri"/>
              </a:rPr>
              <a:t>Target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440" y="4389120"/>
            <a:ext cx="2255520" cy="1432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Calibri"/>
              </a:rPr>
              <a:t>Students, remote workers and anyone using a desktop assistant for long sessions.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52800" y="3779520"/>
            <a:ext cx="249936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962400"/>
            <a:ext cx="22555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Calibri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389120"/>
            <a:ext cx="2255520" cy="1432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Calibri"/>
              </a:rPr>
              <a:t>Text emotion model, neural bandit, simulator and a 4-page Streamlit web app.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74080" y="3779520"/>
            <a:ext cx="249936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0" y="3962400"/>
            <a:ext cx="22555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Calibri"/>
              </a:rPr>
              <a:t>Expected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0" y="4389120"/>
            <a:ext cx="2255520" cy="1432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Calibri"/>
              </a:rPr>
              <a:t>Responses that fit the user's mood and improve with every interaction.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17280" y="1524000"/>
            <a:ext cx="2743200" cy="1402080"/>
          </a:xfrm>
          <a:prstGeom prst="rect">
            <a:avLst/>
          </a:prstGeom>
          <a:solidFill>
            <a:srgbClr val="F4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17280" y="167640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SDG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7280" y="228600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Good Health and Well-being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17280" y="3048000"/>
            <a:ext cx="2743200" cy="2834640"/>
          </a:xfrm>
          <a:prstGeom prst="rect">
            <a:avLst/>
          </a:prstGeom>
          <a:noFill/>
          <a:ln w="25400">
            <a:solidFill>
              <a:srgbClr val="F4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3108960"/>
            <a:ext cx="2621280" cy="2743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Target 3.4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595959"/>
                </a:solidFill>
                <a:latin typeface="Calibri"/>
              </a:rPr>
              <a:t>Promote mental health and well-being.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595959"/>
                </a:solidFill>
                <a:latin typeface="Calibri"/>
              </a:rPr>
              <a:t>Mood Companion notices stress, sadness or anger and responds with breaks, breathing exercises or support — adapting to what helps each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352" y="195072"/>
            <a:ext cx="1328928" cy="7559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6370320"/>
            <a:ext cx="5486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Mood Companion, Dept of AI and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70320"/>
            <a:ext cx="914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365760"/>
            <a:ext cx="9448800" cy="670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Calibri"/>
              </a:rPr>
              <a:t>Progress since First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9456" y="963168"/>
          <a:ext cx="1182624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/>
                <a:gridCol w="3505200"/>
                <a:gridCol w="6187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Initial Plan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Current Status (31 Oct 2026)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000000"/>
                          </a:solidFill>
                          <a:latin typeface="Calibri"/>
                        </a:rPr>
                        <a:t>Problem / Scope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Mood-aware companion idea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Sentiment-conditioned neural bandit companion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000000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Emotion text data from Kaggle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Kaggle Emotions dataset (6 labels) via kagglehub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000000"/>
                          </a:solidFill>
                          <a:latin typeface="Calibri"/>
                        </a:rPr>
                        <a:t>Emotion Model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TF-IDF + small neural network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TF-IDF → MLP (128-64-6) trained and saved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000000"/>
                          </a:solidFill>
                          <a:latin typeface="Calibri"/>
                        </a:rPr>
                        <a:t>Decision Model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Contextual bandit for responses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Neural bandit (10→64→64→8) with ε-greedy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000000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Simulated user planned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Done: 70.4% reward vs 40.6% for random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000000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Streamlit web app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4-page app built and browser-tested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19456" y="4480560"/>
          <a:ext cx="11826240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1792"/>
                <a:gridCol w="7394448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Key Change since Review 1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1. Kaggle access may be blocked offline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Added built-in sample data so the app always runs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2. Context made sentiment-conditioned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Bandit learns a different best action per mood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352" y="195072"/>
            <a:ext cx="1328928" cy="7559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6370320"/>
            <a:ext cx="5486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Mood Companion, Dept of AI and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70320"/>
            <a:ext cx="914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09600"/>
            <a:ext cx="9448800" cy="670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Calibri"/>
              </a:rPr>
              <a:t>System Requirements and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341120" cy="5486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400" b="1">
                <a:solidFill>
                  <a:srgbClr val="000000"/>
                </a:solidFill>
                <a:latin typeface="Calibri"/>
              </a:rPr>
              <a:t>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1310640"/>
            <a:ext cx="5699760" cy="853440"/>
          </a:xfrm>
          <a:prstGeom prst="roundRect">
            <a:avLst>
              <a:gd name="adj" fmla="val 8000"/>
            </a:avLst>
          </a:prstGeom>
          <a:solidFill>
            <a:srgbClr val="E8F0FB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59280" y="1420368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Dataset &amp;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Training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9168" y="1420368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Live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Companion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9056" y="1420368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Bandit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Simulation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28944" y="1420368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How it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Works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84192" y="2164080"/>
            <a:ext cx="0" cy="13411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5760" y="2450592"/>
            <a:ext cx="1341120" cy="5486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400" b="1">
                <a:solidFill>
                  <a:srgbClr val="000000"/>
                </a:solidFill>
                <a:latin typeface="Calibri"/>
              </a:rPr>
              <a:t>Model
(PyTorch)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2298192"/>
            <a:ext cx="5699760" cy="853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59280" y="2407920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Emotion model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TF-IDF → MLP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9168" y="2407920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Context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builder (10-d)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9056" y="2407920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Neural bandit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MLP + ε-greedy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28944" y="2407920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Response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templates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84192" y="3151632"/>
            <a:ext cx="0" cy="13411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3438144"/>
            <a:ext cx="1341120" cy="5486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400" b="1">
                <a:solidFill>
                  <a:srgbClr val="000000"/>
                </a:solidFill>
                <a:latin typeface="Calibri"/>
              </a:rPr>
              <a:t>Learning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37360" y="3285744"/>
            <a:ext cx="5699760" cy="853440"/>
          </a:xfrm>
          <a:prstGeom prst="roundRect">
            <a:avLst>
              <a:gd name="adj" fmla="val 8000"/>
            </a:avLst>
          </a:prstGeom>
          <a:solidFill>
            <a:srgbClr val="FDF1E0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59280" y="3395472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Reward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(up/down)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9168" y="3395472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Replay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buffer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9056" y="3395472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Online update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(Adam, MSE)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28944" y="3395472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Simulated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user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84192" y="4139184"/>
            <a:ext cx="0" cy="13411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5760" y="4425696"/>
            <a:ext cx="1341120" cy="5486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400" b="1">
                <a:solidFill>
                  <a:srgbClr val="000000"/>
                </a:solidFill>
                <a:latin typeface="Calibri"/>
              </a:rPr>
              <a:t>Data &amp;
Storage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37360" y="4273296"/>
            <a:ext cx="5699760" cy="853440"/>
          </a:xfrm>
          <a:prstGeom prst="roundRect">
            <a:avLst>
              <a:gd name="adj" fmla="val 8000"/>
            </a:avLst>
          </a:prstGeom>
          <a:solidFill>
            <a:srgbClr val="F1E8F8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859280" y="4383024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Kaggle dataset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(kagglehub)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9168" y="4383024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Offline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sample CSV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39056" y="4383024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models/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*.pt weights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28944" y="4383024"/>
            <a:ext cx="1280160" cy="6339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Streamlit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session 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242560"/>
            <a:ext cx="5699760" cy="2438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(a) Overall system architecture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0000" y="1402080"/>
            <a:ext cx="23774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User Message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08720" y="1877568"/>
            <a:ext cx="0" cy="30480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620000" y="2182368"/>
            <a:ext cx="23774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Emotion Model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08720" y="2657856"/>
            <a:ext cx="0" cy="30480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620000" y="2962656"/>
            <a:ext cx="23774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Context Builder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08720" y="3438144"/>
            <a:ext cx="0" cy="30480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620000" y="3742944"/>
            <a:ext cx="23774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Neural Bandit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08720" y="4218432"/>
            <a:ext cx="0" cy="30480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620000" y="4523232"/>
            <a:ext cx="237744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Companion Response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63200" y="3621024"/>
            <a:ext cx="1219200" cy="609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Feedback</a:t>
            </a:r>
          </a:p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Learner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10972800" y="4230624"/>
            <a:ext cx="0" cy="780288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997440" y="5010912"/>
            <a:ext cx="97536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997440" y="3925824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620000" y="5242560"/>
            <a:ext cx="3962400" cy="2438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(b) Simplified module block diagram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00" y="5547360"/>
            <a:ext cx="10972800" cy="609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0560" y="5577840"/>
            <a:ext cx="10850880" cy="5486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Software: </a:t>
            </a:r>
            <a:r>
              <a:rPr sz="1800" b="0">
                <a:solidFill>
                  <a:srgbClr val="000000"/>
                </a:solidFill>
                <a:latin typeface="Calibri"/>
              </a:rPr>
              <a:t>Python 3.10+, PyTorch, scikit-learn, Streamlit, kagglehub, pandas.   </a:t>
            </a:r>
            <a:r>
              <a:rPr sz="1800" b="1">
                <a:solidFill>
                  <a:srgbClr val="000000"/>
                </a:solidFill>
                <a:latin typeface="Calibri"/>
              </a:rPr>
              <a:t>Hardware: </a:t>
            </a:r>
            <a:r>
              <a:rPr sz="1800" b="0">
                <a:solidFill>
                  <a:srgbClr val="000000"/>
                </a:solidFill>
                <a:latin typeface="Calibri"/>
              </a:rPr>
              <a:t>any 4-core CPU, 8 GB RAM; no GPU needed (training ≈ 1 min).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352" y="195072"/>
            <a:ext cx="1328928" cy="7559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6370320"/>
            <a:ext cx="5486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Mood Companion, Dept of AI and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70320"/>
            <a:ext cx="914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274320"/>
            <a:ext cx="9448800" cy="670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Calibri"/>
              </a:rPr>
              <a:t>Methodology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02080" y="1036320"/>
            <a:ext cx="2316480" cy="30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0">
                <a:solidFill>
                  <a:srgbClr val="000000"/>
                </a:solidFill>
                <a:latin typeface="Calibri"/>
              </a:rPr>
              <a:t>Start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34112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02080" y="1524000"/>
            <a:ext cx="231648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0">
                <a:solidFill>
                  <a:srgbClr val="000000"/>
                </a:solidFill>
                <a:latin typeface="Calibri"/>
              </a:rPr>
              <a:t>User types a message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188976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402080" y="2072640"/>
            <a:ext cx="231648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0">
                <a:solidFill>
                  <a:srgbClr val="000000"/>
                </a:solidFill>
                <a:latin typeface="Calibri"/>
              </a:rPr>
              <a:t>Emotion MLP → 6 probs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243840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402080" y="2621280"/>
            <a:ext cx="231648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0">
                <a:solidFill>
                  <a:srgbClr val="000000"/>
                </a:solidFill>
                <a:latin typeface="Calibri"/>
              </a:rPr>
              <a:t>Build 10-d context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2987040"/>
            <a:ext cx="0" cy="15240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1828800" y="3139440"/>
            <a:ext cx="1463040" cy="6096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0">
                <a:solidFill>
                  <a:srgbClr val="000000"/>
                </a:solidFill>
                <a:latin typeface="Calibri"/>
              </a:rPr>
              <a:t>rand &lt; ε 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02080" y="4023360"/>
            <a:ext cx="2316480" cy="365760"/>
          </a:xfrm>
          <a:prstGeom prst="rect">
            <a:avLst/>
          </a:prstGeom>
          <a:solidFill>
            <a:srgbClr val="E6F4EA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0">
                <a:solidFill>
                  <a:srgbClr val="000000"/>
                </a:solidFill>
                <a:latin typeface="Calibri"/>
              </a:rPr>
              <a:t>Show response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60320" y="438912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402080" y="4572000"/>
            <a:ext cx="2316480" cy="365760"/>
          </a:xfrm>
          <a:prstGeom prst="rect">
            <a:avLst/>
          </a:prstGeom>
          <a:solidFill>
            <a:srgbClr val="E8F0FB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0">
                <a:solidFill>
                  <a:srgbClr val="000000"/>
                </a:solidFill>
                <a:latin typeface="Calibri"/>
              </a:rPr>
              <a:t>Thumbs up / down = reward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60320" y="493776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402080" y="5120640"/>
            <a:ext cx="2316480" cy="365760"/>
          </a:xfrm>
          <a:prstGeom prst="rect">
            <a:avLst/>
          </a:prstGeom>
          <a:solidFill>
            <a:srgbClr val="F1E8F8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0">
                <a:solidFill>
                  <a:srgbClr val="000000"/>
                </a:solidFill>
                <a:latin typeface="Calibri"/>
              </a:rPr>
              <a:t>Update bandit (MSE, decay ε)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3840" y="3200400"/>
            <a:ext cx="1158240" cy="487680"/>
          </a:xfrm>
          <a:prstGeom prst="roundRect">
            <a:avLst>
              <a:gd name="adj" fmla="val 15000"/>
            </a:avLst>
          </a:prstGeom>
          <a:solidFill>
            <a:srgbClr val="FDF1E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Explore: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random 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18560" y="3200400"/>
            <a:ext cx="1158240" cy="487680"/>
          </a:xfrm>
          <a:prstGeom prst="roundRect">
            <a:avLst>
              <a:gd name="adj" fmla="val 15000"/>
            </a:avLst>
          </a:prstGeom>
          <a:solidFill>
            <a:srgbClr val="FDF1E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Exploit: best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predicted action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402080" y="3444240"/>
            <a:ext cx="4267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91840" y="3444240"/>
            <a:ext cx="42672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463040" y="3200400"/>
            <a:ext cx="365760" cy="1828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200400"/>
            <a:ext cx="365760" cy="1828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no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3688080"/>
            <a:ext cx="1249680" cy="3352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048000" y="3688080"/>
            <a:ext cx="1249680" cy="3352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18560" y="5303520"/>
            <a:ext cx="146304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181600" y="1706880"/>
            <a:ext cx="0" cy="359664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718560" y="1706880"/>
            <a:ext cx="146304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18176" y="3901440"/>
            <a:ext cx="79248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next
message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5699760"/>
            <a:ext cx="3901440" cy="2438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Calibri"/>
              </a:rPr>
              <a:t>Flowchart of the Sense → Decide → Learn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4080" y="1036320"/>
            <a:ext cx="6035040" cy="3048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Processing steps &amp;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4080" y="1341120"/>
            <a:ext cx="6035040" cy="24384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1. Data:</a:t>
            </a:r>
            <a:r>
              <a:rPr sz="1800" b="0">
                <a:solidFill>
                  <a:srgbClr val="595959"/>
                </a:solidFill>
                <a:latin typeface="Calibri"/>
              </a:rPr>
              <a:t> Kaggle emotions dataset via kagglehub.</a:t>
            </a:r>
          </a:p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2. Features:</a:t>
            </a:r>
            <a:r>
              <a:rPr sz="1800" b="0">
                <a:solidFill>
                  <a:srgbClr val="595959"/>
                </a:solidFill>
                <a:latin typeface="Calibri"/>
              </a:rPr>
              <a:t> TF-IDF, 5,000 uni- and bi-grams.</a:t>
            </a:r>
          </a:p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3. Emotion MLP:</a:t>
            </a:r>
            <a:r>
              <a:rPr sz="1800" b="0">
                <a:solidFill>
                  <a:srgbClr val="595959"/>
                </a:solidFill>
                <a:latin typeface="Calibri"/>
              </a:rPr>
              <a:t> 5000→128→64→6, ReLU, Dropout 0.3.</a:t>
            </a:r>
          </a:p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4. Context:</a:t>
            </a:r>
            <a:r>
              <a:rPr sz="1800" b="0">
                <a:solidFill>
                  <a:srgbClr val="595959"/>
                </a:solidFill>
                <a:latin typeface="Calibri"/>
              </a:rPr>
              <a:t> emotion probs + time + session + last reward.</a:t>
            </a:r>
          </a:p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5. Reward net:</a:t>
            </a:r>
            <a:r>
              <a:rPr sz="1800" b="0">
                <a:solidFill>
                  <a:srgbClr val="595959"/>
                </a:solidFill>
                <a:latin typeface="Calibri"/>
              </a:rPr>
              <a:t> MLP 10→64→64→8, one output per action.</a:t>
            </a:r>
          </a:p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6. ε-greedy:</a:t>
            </a:r>
            <a:r>
              <a:rPr sz="1800" b="0">
                <a:solidFill>
                  <a:srgbClr val="595959"/>
                </a:solidFill>
                <a:latin typeface="Calibri"/>
              </a:rPr>
              <a:t> explore with prob. ε (0.3 → 0.05).</a:t>
            </a:r>
          </a:p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7. Online learning:</a:t>
            </a:r>
            <a:r>
              <a:rPr sz="1800" b="0">
                <a:solidFill>
                  <a:srgbClr val="595959"/>
                </a:solidFill>
                <a:latin typeface="Calibri"/>
              </a:rPr>
              <a:t> replay buffer, 4 Adam steps, MSE.</a:t>
            </a:r>
          </a:p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8. Evaluation:</a:t>
            </a:r>
            <a:r>
              <a:rPr sz="1800" b="0">
                <a:solidFill>
                  <a:srgbClr val="595959"/>
                </a:solidFill>
                <a:latin typeface="Calibri"/>
              </a:rPr>
              <a:t> vs random, fixed and oracle policies.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74080" y="3901440"/>
            <a:ext cx="6035040" cy="3048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AI-project items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0" y="4206240"/>
            <a:ext cx="5913120" cy="19507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•  Dataset:</a:t>
            </a:r>
            <a:r>
              <a:rPr sz="1800" b="0">
                <a:solidFill>
                  <a:srgbClr val="595959"/>
                </a:solidFill>
                <a:latin typeface="Calibri"/>
              </a:rPr>
              <a:t> ~20k sentences, 6 emotions (16k/2k/2k).</a:t>
            </a:r>
          </a:p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•  Pre-processing:</a:t>
            </a:r>
            <a:r>
              <a:rPr sz="1800" b="0">
                <a:solidFill>
                  <a:srgbClr val="595959"/>
                </a:solidFill>
                <a:latin typeface="Calibri"/>
              </a:rPr>
              <a:t> label filtering, TF-IDF.</a:t>
            </a:r>
          </a:p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•  Training:</a:t>
            </a:r>
            <a:r>
              <a:rPr sz="1800" b="0">
                <a:solidFill>
                  <a:srgbClr val="595959"/>
                </a:solidFill>
                <a:latin typeface="Calibri"/>
              </a:rPr>
              <a:t> 8 epochs, batch 64, Adam lr 1e-3, CPU.</a:t>
            </a:r>
          </a:p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•  Testing:</a:t>
            </a:r>
            <a:r>
              <a:rPr sz="1800" b="0">
                <a:solidFill>
                  <a:srgbClr val="595959"/>
                </a:solidFill>
                <a:latin typeface="Calibri"/>
              </a:rPr>
              <a:t> accuracy, confusion matrix, simulation.</a:t>
            </a:r>
          </a:p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•  Deployment:</a:t>
            </a:r>
            <a:r>
              <a:rPr sz="1800" b="0">
                <a:solidFill>
                  <a:srgbClr val="595959"/>
                </a:solidFill>
                <a:latin typeface="Calibri"/>
              </a:rPr>
              <a:t> Streamlit web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352" y="195072"/>
            <a:ext cx="1328928" cy="7559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6370320"/>
            <a:ext cx="5486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Mood Companion, Dept of AI and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70320"/>
            <a:ext cx="914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09600"/>
            <a:ext cx="9448800" cy="670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Calibri"/>
              </a:rPr>
              <a:t>Technology Used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668000" cy="42245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/>
                <a:gridCol w="3474720"/>
                <a:gridCol w="509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Why it was selected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Calibri"/>
                        </a:rPr>
                        <a:t>Programming language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Python 3.10+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Standard language for deep learning and data science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PyTorch 2.x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Simple, flexible neural networks; runs well on CPU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Calibri"/>
                        </a:rPr>
                        <a:t>Feature extraction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scikit-learn (TF-IDF)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Fast, reliable text-to-vector conversion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Calibri"/>
                        </a:rPr>
                        <a:t>Web framework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Streamlit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Interactive Python web app with no front-end code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Calibri"/>
                        </a:rPr>
                        <a:t>Dataset access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kagglehub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One-line download of the Kaggle dataset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Calibri"/>
                        </a:rPr>
                        <a:t>Data handling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pandas, NumPy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Loading, cleaning and numeric processing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Calibri"/>
                        </a:rPr>
                        <a:t>Visualisation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Streamlit charts, matplotlib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Loss curves, confusion matrix, reward plots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Playwright (headless Chromium)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Automated check that every app page works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Calibri"/>
                        </a:rPr>
                        <a:t>IDE &amp; tools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VS Code, Git / GitHub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Shared team tooling and version control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4-core CPU, 8 GB RAM; no GPU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Calibri"/>
                        </a:rPr>
                        <a:t>Small models train in about a minute on CPU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352" y="195072"/>
            <a:ext cx="1328928" cy="7559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6370320"/>
            <a:ext cx="5486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Mood Companion, Dept of AI and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70320"/>
            <a:ext cx="914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09600"/>
            <a:ext cx="9448800" cy="670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Calibri"/>
              </a:rP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58240"/>
            <a:ext cx="2042160" cy="1219200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49680"/>
            <a:ext cx="2042160" cy="4267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CC0000"/>
                </a:solidFill>
                <a:latin typeface="Calibri"/>
              </a:rPr>
              <a:t>70.4%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2042160" cy="5791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800" b="0">
                <a:solidFill>
                  <a:srgbClr val="595959"/>
                </a:solidFill>
                <a:latin typeface="Calibri"/>
              </a:rPr>
              <a:t>neural bandit
thumbs-up rate*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158240"/>
            <a:ext cx="2042160" cy="1219200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249680"/>
            <a:ext cx="2042160" cy="4267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CC0000"/>
                </a:solidFill>
                <a:latin typeface="Calibri"/>
              </a:rPr>
              <a:t>40.6%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737360"/>
            <a:ext cx="2042160" cy="5791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800" b="0">
                <a:solidFill>
                  <a:srgbClr val="595959"/>
                </a:solidFill>
                <a:latin typeface="Calibri"/>
              </a:rPr>
              <a:t>random-choice
baseline*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158240"/>
            <a:ext cx="2042160" cy="1219200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249680"/>
            <a:ext cx="2042160" cy="4267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CC0000"/>
                </a:solidFill>
                <a:latin typeface="Calibri"/>
              </a:rPr>
              <a:t>86.5%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737360"/>
            <a:ext cx="2042160" cy="5791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800" b="0">
                <a:solidFill>
                  <a:srgbClr val="595959"/>
                </a:solidFill>
                <a:latin typeface="Calibri"/>
              </a:rPr>
              <a:t>oracle upper
bound*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68880"/>
            <a:ext cx="2042160" cy="1219200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560320"/>
            <a:ext cx="2042160" cy="4267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CC0000"/>
                </a:solidFill>
                <a:latin typeface="Calibri"/>
              </a:rPr>
              <a:t>3.5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48000"/>
            <a:ext cx="2042160" cy="5791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800" b="0">
                <a:solidFill>
                  <a:srgbClr val="595959"/>
                </a:solidFill>
                <a:latin typeface="Calibri"/>
              </a:rPr>
              <a:t>per online update
on CPU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468880"/>
            <a:ext cx="2042160" cy="1219200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2560320"/>
            <a:ext cx="2042160" cy="4267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CC0000"/>
                </a:solidFill>
                <a:latin typeface="Calibri"/>
              </a:rPr>
              <a:t>6 →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048000"/>
            <a:ext cx="2042160" cy="5791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800" b="0">
                <a:solidFill>
                  <a:srgbClr val="595959"/>
                </a:solidFill>
                <a:latin typeface="Calibri"/>
              </a:rPr>
              <a:t>emotions mapped
to 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468880"/>
            <a:ext cx="2042160" cy="1219200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560320"/>
            <a:ext cx="2042160" cy="4267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3600" b="1">
                <a:solidFill>
                  <a:srgbClr val="CC0000"/>
                </a:solidFill>
                <a:latin typeface="Calibri"/>
              </a:rPr>
              <a:t>4 /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048000"/>
            <a:ext cx="2042160" cy="5791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800" b="0">
                <a:solidFill>
                  <a:srgbClr val="595959"/>
                </a:solidFill>
                <a:latin typeface="Calibri"/>
              </a:rPr>
              <a:t>app pages pass
browser test</a:t>
            </a:r>
          </a:p>
        </p:txBody>
      </p:sp>
      <p:pic>
        <p:nvPicPr>
          <p:cNvPr id="25" name="Picture 24" descr="results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120" y="1127760"/>
            <a:ext cx="3901440" cy="253593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66560" y="3657600"/>
            <a:ext cx="5242560" cy="3048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*Simulated user, 2,000 rounds, assuming accurate emotion detection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201168" y="4023360"/>
          <a:ext cx="11673840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2400"/>
                <a:gridCol w="3444240"/>
                <a:gridCol w="4267200"/>
              </a:tblGrid>
              <a:tr h="426720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Performance indicator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Achieved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000000"/>
                          </a:solidFill>
                          <a:latin typeface="Calibri"/>
                        </a:rPr>
                        <a:t>Emotion classifier accuracy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≥ 80% on test set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[fill in after full Kaggle training]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000000"/>
                          </a:solidFill>
                          <a:latin typeface="Calibri"/>
                        </a:rPr>
                        <a:t>Bandit beats random policy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Clearly higher reward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Yes: 70.4% vs 40.6%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000000"/>
                          </a:solidFill>
                          <a:latin typeface="Calibri"/>
                        </a:rPr>
                        <a:t>Bandit beats fixed best action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Higher reward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Yes: 70.4% vs 64.3%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000000"/>
                          </a:solidFill>
                          <a:latin typeface="Calibri"/>
                        </a:rPr>
                        <a:t>Real-time learning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&lt; 100 ms per feedback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00000"/>
                          </a:solidFill>
                          <a:latin typeface="Calibri"/>
                        </a:rPr>
                        <a:t>~3.5 ms per update on CPU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352" y="195072"/>
            <a:ext cx="1328928" cy="7559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6370320"/>
            <a:ext cx="5486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Mood Companion, Dept of AI and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70320"/>
            <a:ext cx="914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487680"/>
            <a:ext cx="9448800" cy="670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Calibri"/>
              </a:rPr>
              <a:t>Remaining Work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" y="1176528"/>
          <a:ext cx="11856720" cy="3755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6205728"/>
                <a:gridCol w="3639312"/>
              </a:tblGrid>
              <a:tr h="536448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% Completed</a:t>
                      </a:r>
                    </a:p>
                  </a:txBody>
                  <a:tcPr marL="54864" marR="54864" anchor="ctr">
                    <a:solidFill>
                      <a:srgbClr val="CC0000"/>
                    </a:solidFill>
                  </a:tcPr>
                </a:tc>
              </a:tr>
              <a:tr h="5364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0000"/>
                          </a:solidFill>
                          <a:latin typeface="Calibri"/>
                        </a:rPr>
                        <a:t>Full training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Train on full Kaggle data; report accuracy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5364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0000"/>
                          </a:solidFill>
                          <a:latin typeface="Calibri"/>
                        </a:rPr>
                        <a:t>User study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Real users rate responses to validate the bandit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0000"/>
                          </a:solidFill>
                          <a:latin typeface="Calibri"/>
                        </a:rPr>
                        <a:t>Better model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Upgrade emotion model to a transformer (DistilBERT)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5364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0000"/>
                          </a:solidFill>
                          <a:latin typeface="Calibri"/>
                        </a:rPr>
                        <a:t>Exploration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Compare ε-greedy with NeuralUCB / Thompson sampling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0000"/>
                          </a:solidFill>
                          <a:latin typeface="Calibri"/>
                        </a:rPr>
                        <a:t>Desktop app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Always-on-top desktop overlay version of the companion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anchor="ctr">
                    <a:solidFill>
                      <a:srgbClr val="F2F2F2"/>
                    </a:solidFill>
                  </a:tcPr>
                </a:tc>
              </a:tr>
              <a:tr h="5364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0000"/>
                          </a:solidFill>
                          <a:latin typeface="Calibri"/>
                        </a:rPr>
                        <a:t>Documentation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Project report, user guide and presentation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000000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" y="5059680"/>
            <a:ext cx="11905488" cy="54864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5059680"/>
            <a:ext cx="11582400" cy="5486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Overall completion ≈ 70% of planned scope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352" y="195072"/>
            <a:ext cx="1328928" cy="7559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6370320"/>
            <a:ext cx="5486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Mood Companion, Dept of AI and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70320"/>
            <a:ext cx="914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09600"/>
            <a:ext cx="9448800" cy="670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Calibri"/>
              </a:rPr>
              <a:t>Updated Timelines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24000"/>
            <a:ext cx="341376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2011680"/>
            <a:ext cx="3291840" cy="39624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 marL="342900" indent="-342900">
              <a:spcAft>
                <a:spcPts val="1000"/>
              </a:spcAft>
              <a:buChar char="•"/>
            </a:pPr>
            <a:r>
              <a:rPr sz="2200" b="0">
                <a:solidFill>
                  <a:srgbClr val="262626"/>
                </a:solidFill>
                <a:latin typeface="Calibri"/>
              </a:rPr>
              <a:t>Problem study &amp; literature survey: Oct 2026</a:t>
            </a:r>
          </a:p>
          <a:p>
            <a:pPr algn="l" marL="342900" indent="-342900">
              <a:spcAft>
                <a:spcPts val="1000"/>
              </a:spcAft>
              <a:buChar char="•"/>
            </a:pPr>
            <a:r>
              <a:rPr sz="2200" b="0">
                <a:solidFill>
                  <a:srgbClr val="262626"/>
                </a:solidFill>
                <a:latin typeface="Calibri"/>
              </a:rPr>
              <a:t>Emotion MLP + neural bandit: Oct 2026</a:t>
            </a:r>
          </a:p>
          <a:p>
            <a:pPr algn="l" marL="342900" indent="-342900">
              <a:spcAft>
                <a:spcPts val="1000"/>
              </a:spcAft>
              <a:buChar char="•"/>
            </a:pPr>
            <a:r>
              <a:rPr sz="2200" b="0">
                <a:solidFill>
                  <a:srgbClr val="262626"/>
                </a:solidFill>
                <a:latin typeface="Calibri"/>
              </a:rPr>
              <a:t>Streamlit app (4 pages): Oct 2026</a:t>
            </a:r>
          </a:p>
          <a:p>
            <a:pPr algn="l" marL="342900" indent="-342900">
              <a:spcAft>
                <a:spcPts val="1000"/>
              </a:spcAft>
              <a:buChar char="•"/>
            </a:pPr>
            <a:r>
              <a:rPr sz="2200" b="0">
                <a:solidFill>
                  <a:srgbClr val="262626"/>
                </a:solidFill>
                <a:latin typeface="Calibri"/>
              </a:rPr>
              <a:t>Simulation evaluation: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24000"/>
            <a:ext cx="341376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Ongoing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1040" y="2011680"/>
            <a:ext cx="3291840" cy="39624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 marL="342900" indent="-342900">
              <a:spcAft>
                <a:spcPts val="1000"/>
              </a:spcAft>
              <a:buChar char="•"/>
            </a:pPr>
            <a:r>
              <a:rPr sz="2200" b="0">
                <a:solidFill>
                  <a:srgbClr val="262626"/>
                </a:solidFill>
                <a:latin typeface="Calibri"/>
              </a:rPr>
              <a:t>Full Kaggle training &amp; accuracy: Nov 2026</a:t>
            </a:r>
          </a:p>
          <a:p>
            <a:pPr algn="l" marL="342900" indent="-342900">
              <a:spcAft>
                <a:spcPts val="1000"/>
              </a:spcAft>
              <a:buChar char="•"/>
            </a:pPr>
            <a:r>
              <a:rPr sz="2200" b="0">
                <a:solidFill>
                  <a:srgbClr val="262626"/>
                </a:solidFill>
                <a:latin typeface="Calibri"/>
              </a:rPr>
              <a:t>Exploration-strategy comparison: Nov 2026</a:t>
            </a:r>
          </a:p>
          <a:p>
            <a:pPr algn="l" marL="342900" indent="-342900">
              <a:spcAft>
                <a:spcPts val="1000"/>
              </a:spcAft>
              <a:buChar char="•"/>
            </a:pPr>
            <a:r>
              <a:rPr sz="2200" b="0">
                <a:solidFill>
                  <a:srgbClr val="262626"/>
                </a:solidFill>
                <a:latin typeface="Calibri"/>
              </a:rPr>
              <a:t>Project report: Nov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524000"/>
            <a:ext cx="341376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8640" y="2011680"/>
            <a:ext cx="3291840" cy="39624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 marL="342900" indent="-342900">
              <a:spcAft>
                <a:spcPts val="1000"/>
              </a:spcAft>
              <a:buChar char="•"/>
            </a:pPr>
            <a:r>
              <a:rPr sz="2200" b="0">
                <a:solidFill>
                  <a:srgbClr val="262626"/>
                </a:solidFill>
                <a:latin typeface="Calibri"/>
              </a:rPr>
              <a:t>Real-user study: Nov–Dec 2026</a:t>
            </a:r>
          </a:p>
          <a:p>
            <a:pPr algn="l" marL="342900" indent="-342900">
              <a:spcAft>
                <a:spcPts val="1000"/>
              </a:spcAft>
              <a:buChar char="•"/>
            </a:pPr>
            <a:r>
              <a:rPr sz="2200" b="0">
                <a:solidFill>
                  <a:srgbClr val="262626"/>
                </a:solidFill>
                <a:latin typeface="Calibri"/>
              </a:rPr>
              <a:t>Transformer emotion model: Dec 2026</a:t>
            </a:r>
          </a:p>
          <a:p>
            <a:pPr algn="l" marL="342900" indent="-342900">
              <a:spcAft>
                <a:spcPts val="1000"/>
              </a:spcAft>
              <a:buChar char="•"/>
            </a:pPr>
            <a:r>
              <a:rPr sz="2200" b="0">
                <a:solidFill>
                  <a:srgbClr val="262626"/>
                </a:solidFill>
                <a:latin typeface="Calibri"/>
              </a:rPr>
              <a:t>Final presentation &amp; viva: Dec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352" y="195072"/>
            <a:ext cx="1328928" cy="7559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6370320"/>
            <a:ext cx="5486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Mood Companion, Dept of AI and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70320"/>
            <a:ext cx="914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09600"/>
            <a:ext cx="9448800" cy="6705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Calibri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688" y="1402080"/>
            <a:ext cx="5791200" cy="47548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[1] </a:t>
            </a:r>
            <a:r>
              <a:rPr sz="1700" b="0">
                <a:solidFill>
                  <a:srgbClr val="000000"/>
                </a:solidFill>
                <a:latin typeface="Calibri"/>
              </a:rPr>
              <a:t>L. Li, W. Chu, J. Langford and R. E. Schapire, "A contextual-bandit approach to personalized news article recommendation," WWW, 2010.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[2] </a:t>
            </a:r>
            <a:r>
              <a:rPr sz="1700" b="0">
                <a:solidFill>
                  <a:srgbClr val="000000"/>
                </a:solidFill>
                <a:latin typeface="Calibri"/>
              </a:rPr>
              <a:t>C. Riquelme, G. Tucker and J. Snoek, "Deep Bayesian bandits showdown," ICLR, 2018.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[3] </a:t>
            </a:r>
            <a:r>
              <a:rPr sz="1700" b="0">
                <a:solidFill>
                  <a:srgbClr val="000000"/>
                </a:solidFill>
                <a:latin typeface="Calibri"/>
              </a:rPr>
              <a:t>D. Zhou, L. Li and Q. Gu, "Neural contextual bandits with UCB-based exploration," ICML, 2020.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[4] </a:t>
            </a:r>
            <a:r>
              <a:rPr sz="1700" b="0">
                <a:solidFill>
                  <a:srgbClr val="000000"/>
                </a:solidFill>
                <a:latin typeface="Calibri"/>
              </a:rPr>
              <a:t>R. Allesiardo, R. Féraud and D. Bouneffouf, "A neural networks committee for the contextual bandit problem," ICONIP, 2014.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[5] </a:t>
            </a:r>
            <a:r>
              <a:rPr sz="1700" b="0">
                <a:solidFill>
                  <a:srgbClr val="000000"/>
                </a:solidFill>
                <a:latin typeface="Calibri"/>
              </a:rPr>
              <a:t>E. Saravia et al., "CARER: Contextualized affect representations for emotion recognition," EMNLP, 2018.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[6] </a:t>
            </a:r>
            <a:r>
              <a:rPr sz="1700" b="0">
                <a:solidFill>
                  <a:srgbClr val="000000"/>
                </a:solidFill>
                <a:latin typeface="Calibri"/>
              </a:rPr>
              <a:t>R. S. Sutton and A. G. Barto, Reinforcement Learning: An Introduction, 2nd ed., MIT Press, 2018.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[7] </a:t>
            </a:r>
            <a:r>
              <a:rPr sz="1700" b="0">
                <a:solidFill>
                  <a:srgbClr val="000000"/>
                </a:solidFill>
                <a:latin typeface="Calibri"/>
              </a:rPr>
              <a:t>I. Goodfellow, Y. Bengio and A. Courville, Deep Learning, MIT Press, 2016.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6688" y="1402080"/>
            <a:ext cx="5791200" cy="47548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[8] </a:t>
            </a:r>
            <a:r>
              <a:rPr sz="1700" b="0">
                <a:solidFill>
                  <a:srgbClr val="000000"/>
                </a:solidFill>
                <a:latin typeface="Calibri"/>
              </a:rPr>
              <a:t>T. Lattimore and C. Szepesvári, Bandit Algorithms, Cambridge University Press, 2020.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[9] </a:t>
            </a:r>
            <a:r>
              <a:rPr sz="1700" b="0">
                <a:solidFill>
                  <a:srgbClr val="000000"/>
                </a:solidFill>
                <a:latin typeface="Calibri"/>
              </a:rPr>
              <a:t>A. Paszke et al., "PyTorch: An imperative style, high-performance deep learning library," NeurIPS, 2019.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[10] </a:t>
            </a:r>
            <a:r>
              <a:rPr sz="1700" b="0">
                <a:solidFill>
                  <a:srgbClr val="000000"/>
                </a:solidFill>
                <a:latin typeface="Calibri"/>
              </a:rPr>
              <a:t>F. Pedregosa et al., "Scikit-learn: Machine learning in Python," JMLR, 2011.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[11] </a:t>
            </a:r>
            <a:r>
              <a:rPr sz="1700" b="0">
                <a:solidFill>
                  <a:srgbClr val="000000"/>
                </a:solidFill>
                <a:latin typeface="Calibri"/>
              </a:rPr>
              <a:t>P. Govi, "Emotions dataset for NLP," kaggle.com/datasets/praveengovi/emotions-dataset-for-nlp.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[12] </a:t>
            </a:r>
            <a:r>
              <a:rPr sz="1700" b="0">
                <a:solidFill>
                  <a:srgbClr val="000000"/>
                </a:solidFill>
                <a:latin typeface="Calibri"/>
              </a:rPr>
              <a:t>Streamlit Inc., "Streamlit documentation," docs.streamlit.io, 2025.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[13] </a:t>
            </a:r>
            <a:r>
              <a:rPr sz="1700" b="0">
                <a:solidFill>
                  <a:srgbClr val="000000"/>
                </a:solidFill>
                <a:latin typeface="Calibri"/>
              </a:rPr>
              <a:t>Kaggle, "kagglehub," github.com/Kaggle/kagglehub, 2025.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s_logo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352" y="195072"/>
            <a:ext cx="1328928" cy="7559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4800" y="6370320"/>
            <a:ext cx="5486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Mood Companion, Dept of AI and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70320"/>
            <a:ext cx="914400" cy="33528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255520"/>
            <a:ext cx="12192000" cy="9144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7200" b="1">
                <a:solidFill>
                  <a:srgbClr val="CC0000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74720"/>
            <a:ext cx="12192000" cy="4267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2800" b="0">
                <a:solidFill>
                  <a:srgbClr val="595959"/>
                </a:solidFill>
                <a:latin typeface="Calibri"/>
              </a:rPr>
              <a:t>Mood Companion: emotion → context → neural bandit → personalised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06240"/>
            <a:ext cx="121920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2600" b="0">
                <a:solidFill>
                  <a:srgbClr val="000000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